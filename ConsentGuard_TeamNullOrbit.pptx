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-57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bracketed placeholders (participant names, email, date) before submission. ConsentGuard is a proposed design; no working prototype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Mandatory PS-002 requirements preserved: one synthetic service, synthetic users, 3 purposes; record purpose, notice version, grant and withdrawal; connect consent status to a mock downstream consumer/API; demonstrate grant, withdrawal, notice change and denial of unauthorised requests; at least 12 lifecycle and enforcement tests; focus on technical evidence, not legal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are limited to real, citable sources listed on the Bibliography slide. Legal texts are background; confirm exact provisions before making legal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design only. Purposes are synthetic examples. Notice-change handling (re-confirmation required for consent given on an older notice version) is a proposed policy choice to be finalised by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Editable diagram built from native PowerPoint shapes and lines. Trust boundary: authorization happens in the backend enforcement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access decision creates an audit event: request ID, user ID, purpose ID, decision, reason, timestamp. Diagram describes the intended flow of the proposed prototype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896112" cy="8887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593" y="48463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ConsentGuard  •  14 October 2026</a:t>
            </a:r>
            <a:endParaRPr lang="en-US" sz="9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ct title"/>
          <p:cNvSpPr txBox="1"/>
          <p:nvPr/>
        </p:nvSpPr>
        <p:spPr>
          <a:xfrm>
            <a:off x="399593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3400" b="1" dirty="0" err="1" smtClean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ConsentGuard</a:t>
            </a:r>
            <a:endParaRPr lang="en-US" sz="3300" dirty="0"/>
          </a:p>
        </p:txBody>
      </p:sp>
      <p:sp>
        <p:nvSpPr>
          <p:cNvPr id="3" name="Subtitle"/>
          <p:cNvSpPr txBox="1"/>
          <p:nvPr/>
        </p:nvSpPr>
        <p:spPr>
          <a:xfrm>
            <a:off x="399593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PS-002: Purpose-Based Consent Recording &amp; Withdrawal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99593" y="3017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99593" y="3278221"/>
            <a:ext cx="3861122" cy="66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600" b="1" dirty="0" err="1" smtClean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Sahil</a:t>
            </a:r>
            <a:r>
              <a:rPr lang="en-US" sz="1600" b="1" dirty="0" smtClean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600" b="1" dirty="0" err="1" smtClean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Prajapati</a:t>
            </a:r>
            <a:r>
              <a:rPr lang="en-US" sz="1600" b="1" dirty="0" smtClean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600" b="1" dirty="0" smtClean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untitled.sahil@gmail.com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9593" y="4114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Hackathon 3  •  Category: Cyber security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99593" y="4407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14 October 2026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440740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i="1" dirty="0">
                <a:solidFill>
                  <a:srgbClr val="5C5C5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Proposed design — not a deployed system</a:t>
            </a:r>
            <a:endParaRPr lang="en-US" sz="1150" dirty="0"/>
          </a:p>
        </p:txBody>
      </p:sp>
      <p:sp>
        <p:nvSpPr>
          <p:cNvPr id="9" name="Text 3"/>
          <p:cNvSpPr txBox="1"/>
          <p:nvPr/>
        </p:nvSpPr>
        <p:spPr>
          <a:xfrm>
            <a:off x="4880542" y="3278221"/>
            <a:ext cx="3861122" cy="66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600" b="1" dirty="0" err="1" smtClean="0"/>
              <a:t>Riddhi</a:t>
            </a:r>
            <a:r>
              <a:rPr lang="en-US" sz="1600" b="1" dirty="0" smtClean="0"/>
              <a:t> Patel 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600" b="1" dirty="0" smtClean="0"/>
              <a:t>patelriddhi1049@gmail.com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nav"/>
          <p:cNvSpPr txBox="1"/>
          <p:nvPr/>
        </p:nvSpPr>
        <p:spPr>
          <a:xfrm>
            <a:off x="0" y="82296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3  Abstract</a:t>
            </a:r>
            <a:endParaRPr lang="en-US" sz="950" dirty="0"/>
          </a:p>
        </p:txBody>
      </p:sp>
      <p:sp>
        <p:nvSpPr>
          <p:cNvPr id="3" name="Slide title"/>
          <p:cNvSpPr txBox="1"/>
          <p:nvPr/>
        </p:nvSpPr>
        <p:spPr>
          <a:xfrm>
            <a:off x="399593" y="365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25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Abstract &amp; Problem Description</a:t>
            </a:r>
            <a:endParaRPr lang="en-US" sz="2300" dirty="0"/>
          </a:p>
        </p:txBody>
      </p:sp>
      <p:sp>
        <p:nvSpPr>
          <p:cNvPr id="4" name="Page number"/>
          <p:cNvSpPr txBox="1"/>
          <p:nvPr/>
        </p:nvSpPr>
        <p:spPr>
          <a:xfrm>
            <a:off x="7589520" y="48463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 / 11</a:t>
            </a:r>
            <a:endParaRPr lang="en-US" sz="950" dirty="0"/>
          </a:p>
        </p:txBody>
      </p:sp>
      <p:sp>
        <p:nvSpPr>
          <p:cNvPr id="5" name="Lead statement"/>
          <p:cNvSpPr txBox="1"/>
          <p:nvPr/>
        </p:nvSpPr>
        <p:spPr>
          <a:xfrm>
            <a:off x="399593" y="841248"/>
            <a:ext cx="8343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 is recorded, but downstream services may fail to enforce the user’s latest decision.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99593" y="14630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Abstract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99593" y="1719072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ConsentGuard is a proposed consent-management workflow for one synthetic service, synthetic users and three data-sharing purposes. It records each purpose-specific grant and withdrawal together with the notice version and its SHA-256 hash. A conceptual enforcement layer sits in front of a mock downstream data-sharing API, so every request is checked against the current consent state and unauthorised requests are denied. Every event and decision goes to an exportable audit trail.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463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Problem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719072"/>
            <a:ext cx="3986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 is stored in one place while downstream flows keep processing without re-checking it.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withdrawal can update a record yet not stop later data-sharing requests.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 for one purpose can be stretched to another if purposes are not enforced separately.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Notice changes are hard to trace when no version or hash is kept with the decision.</a:t>
            </a:r>
            <a:endParaRPr lang="en-US" sz="1200" dirty="0"/>
          </a:p>
        </p:txBody>
      </p:sp>
      <p:sp>
        <p:nvSpPr>
          <p:cNvPr id="10" name="Scope note"/>
          <p:cNvSpPr/>
          <p:nvPr/>
        </p:nvSpPr>
        <p:spPr>
          <a:xfrm>
            <a:off x="399593" y="4041648"/>
            <a:ext cx="8343900" cy="658368"/>
          </a:xfrm>
          <a:prstGeom prst="rect">
            <a:avLst/>
          </a:prstGeom>
          <a:solidFill>
            <a:srgbClr val="EEF0FF"/>
          </a:solidFill>
          <a:ln w="9525">
            <a:solidFill>
              <a:srgbClr val="B8B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536753" y="4078224"/>
            <a:ext cx="80695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Scope: </a:t>
            </a:r>
            <a:r>
              <a:rPr lang="en-US" sz="12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technical consent evidence for a synthetic service — not legal certification or universal DPDP/GDPR compliance.</a:t>
            </a:r>
            <a:endParaRPr lang="en-US" sz="115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Status: </a:t>
            </a:r>
            <a:r>
              <a:rPr lang="en-US" sz="12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proposed design only; no prototype, test results or measurements are claimed.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nav"/>
          <p:cNvSpPr txBox="1"/>
          <p:nvPr/>
        </p:nvSpPr>
        <p:spPr>
          <a:xfrm>
            <a:off x="0" y="82296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3  Background</a:t>
            </a:r>
            <a:endParaRPr lang="en-US" sz="950" dirty="0"/>
          </a:p>
        </p:txBody>
      </p:sp>
      <p:sp>
        <p:nvSpPr>
          <p:cNvPr id="3" name="Slide title"/>
          <p:cNvSpPr txBox="1"/>
          <p:nvPr/>
        </p:nvSpPr>
        <p:spPr>
          <a:xfrm>
            <a:off x="399593" y="365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25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Background</a:t>
            </a:r>
            <a:endParaRPr lang="en-US" sz="2300" dirty="0"/>
          </a:p>
        </p:txBody>
      </p:sp>
      <p:sp>
        <p:nvSpPr>
          <p:cNvPr id="4" name="Page number"/>
          <p:cNvSpPr txBox="1"/>
          <p:nvPr/>
        </p:nvSpPr>
        <p:spPr>
          <a:xfrm>
            <a:off x="7589520" y="48463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/ 11</a:t>
            </a:r>
            <a:endParaRPr lang="en-US" sz="950" dirty="0"/>
          </a:p>
        </p:txBody>
      </p:sp>
      <p:sp>
        <p:nvSpPr>
          <p:cNvPr id="5" name="Lead statement"/>
          <p:cNvSpPr txBox="1"/>
          <p:nvPr/>
        </p:nvSpPr>
        <p:spPr>
          <a:xfrm>
            <a:off x="399593" y="841248"/>
            <a:ext cx="8343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Recording consent is not the same as enforcing it where data is accessed.</a:t>
            </a:r>
            <a:endParaRPr lang="en-US" sz="1500" dirty="0"/>
          </a:p>
        </p:txBody>
      </p:sp>
      <p:sp>
        <p:nvSpPr>
          <p:cNvPr id="6" name="Concept card 1"/>
          <p:cNvSpPr/>
          <p:nvPr/>
        </p:nvSpPr>
        <p:spPr>
          <a:xfrm>
            <a:off x="399593" y="1298448"/>
            <a:ext cx="2651760" cy="1783080"/>
          </a:xfrm>
          <a:prstGeom prst="rect">
            <a:avLst/>
          </a:prstGeom>
          <a:solidFill>
            <a:srgbClr val="EEF0FF"/>
          </a:solidFill>
          <a:ln w="9525">
            <a:solidFill>
              <a:srgbClr val="B8B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36753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Purpose limitation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36753" y="1700784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should be used only for the specific purposes a person was told about. Consent for one purpose does not cover another. DPDP and GDPR both frame consent around specified purposes [2][4].</a:t>
            </a:r>
            <a:endParaRPr lang="en-US" sz="1150" dirty="0"/>
          </a:p>
        </p:txBody>
      </p:sp>
      <p:sp>
        <p:nvSpPr>
          <p:cNvPr id="9" name="Concept card 2"/>
          <p:cNvSpPr/>
          <p:nvPr/>
        </p:nvSpPr>
        <p:spPr>
          <a:xfrm>
            <a:off x="3234233" y="1298448"/>
            <a:ext cx="2651760" cy="1783080"/>
          </a:xfrm>
          <a:prstGeom prst="rect">
            <a:avLst/>
          </a:prstGeom>
          <a:solidFill>
            <a:srgbClr val="EEF0FF"/>
          </a:solidFill>
          <a:ln w="9525">
            <a:solidFill>
              <a:srgbClr val="B8B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371393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Withdrawal &amp; latest state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371393" y="1700784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person can withdraw consent after granting it, and later processing should follow that decision [2][4]. The system keeps the full event history; the latest event decides access.</a:t>
            </a:r>
            <a:endParaRPr lang="en-US" sz="1150" dirty="0"/>
          </a:p>
        </p:txBody>
      </p:sp>
      <p:sp>
        <p:nvSpPr>
          <p:cNvPr id="12" name="Concept card 3"/>
          <p:cNvSpPr/>
          <p:nvPr/>
        </p:nvSpPr>
        <p:spPr>
          <a:xfrm>
            <a:off x="6068873" y="1298448"/>
            <a:ext cx="2651760" cy="1783080"/>
          </a:xfrm>
          <a:prstGeom prst="rect">
            <a:avLst/>
          </a:prstGeom>
          <a:solidFill>
            <a:srgbClr val="EEF0FF"/>
          </a:solidFill>
          <a:ln w="9525">
            <a:solidFill>
              <a:srgbClr val="B8B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06033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Notice versions &amp; hashes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206033" y="1700784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notice can change after a decision. A version ID plus a SHA-256 digest [5] ties each decision to the exact notice text. A digest detects change; it does not prove the notice was read.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99593" y="3246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gap in practice</a:t>
            </a:r>
            <a:endParaRPr lang="en-US" sz="1300" dirty="0"/>
          </a:p>
        </p:txBody>
      </p:sp>
      <p:sp>
        <p:nvSpPr>
          <p:cNvPr id="16" name="Gap step 1"/>
          <p:cNvSpPr/>
          <p:nvPr/>
        </p:nvSpPr>
        <p:spPr>
          <a:xfrm>
            <a:off x="399593" y="3566160"/>
            <a:ext cx="210312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454457" y="359359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User withdraws consent for a purpose</a:t>
            </a:r>
            <a:endParaRPr lang="en-US" sz="1100" dirty="0"/>
          </a:p>
        </p:txBody>
      </p:sp>
      <p:sp>
        <p:nvSpPr>
          <p:cNvPr id="18" name="Gap step 2"/>
          <p:cNvSpPr/>
          <p:nvPr/>
        </p:nvSpPr>
        <p:spPr>
          <a:xfrm>
            <a:off x="3508553" y="3566160"/>
            <a:ext cx="210312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563417" y="359359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 database is updated</a:t>
            </a:r>
            <a:endParaRPr lang="en-US" sz="1100" dirty="0"/>
          </a:p>
        </p:txBody>
      </p:sp>
      <p:sp>
        <p:nvSpPr>
          <p:cNvPr id="20" name="Gap step 3"/>
          <p:cNvSpPr/>
          <p:nvPr/>
        </p:nvSpPr>
        <p:spPr>
          <a:xfrm>
            <a:off x="6617513" y="3566160"/>
            <a:ext cx="2103120" cy="713232"/>
          </a:xfrm>
          <a:prstGeom prst="rect">
            <a:avLst/>
          </a:prstGeom>
          <a:solidFill>
            <a:srgbClr val="F2F2F2"/>
          </a:solidFill>
          <a:ln w="15875">
            <a:solidFill>
              <a:srgbClr val="000000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672377" y="359359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Downstream service still shares data</a:t>
            </a:r>
            <a:endParaRPr lang="en-US" sz="1100" dirty="0"/>
          </a:p>
        </p:txBody>
      </p:sp>
      <p:sp>
        <p:nvSpPr>
          <p:cNvPr id="22" name="Flow arrow"/>
          <p:cNvSpPr/>
          <p:nvPr/>
        </p:nvSpPr>
        <p:spPr>
          <a:xfrm>
            <a:off x="2502713" y="3922776"/>
            <a:ext cx="1005840" cy="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Flow arrow"/>
          <p:cNvSpPr/>
          <p:nvPr/>
        </p:nvSpPr>
        <p:spPr>
          <a:xfrm>
            <a:off x="5611673" y="3922776"/>
            <a:ext cx="10058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5657393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enforcement link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99593" y="4434840"/>
            <a:ext cx="8343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i="1" dirty="0">
                <a:solidFill>
                  <a:srgbClr val="5C5C5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Prototype scope: synthetic data and a mock API demonstrate the mechanism; they do not certify legal compliance.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nav"/>
          <p:cNvSpPr txBox="1"/>
          <p:nvPr/>
        </p:nvSpPr>
        <p:spPr>
          <a:xfrm>
            <a:off x="0" y="82296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3  Literature &amp; RFC Review</a:t>
            </a:r>
            <a:endParaRPr lang="en-US" sz="950" dirty="0"/>
          </a:p>
        </p:txBody>
      </p:sp>
      <p:sp>
        <p:nvSpPr>
          <p:cNvPr id="3" name="Slide title"/>
          <p:cNvSpPr txBox="1"/>
          <p:nvPr/>
        </p:nvSpPr>
        <p:spPr>
          <a:xfrm>
            <a:off x="399593" y="365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25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Literature &amp; RFC Review</a:t>
            </a:r>
            <a:endParaRPr lang="en-US" sz="2300" dirty="0"/>
          </a:p>
        </p:txBody>
      </p:sp>
      <p:sp>
        <p:nvSpPr>
          <p:cNvPr id="4" name="Page number"/>
          <p:cNvSpPr txBox="1"/>
          <p:nvPr/>
        </p:nvSpPr>
        <p:spPr>
          <a:xfrm>
            <a:off x="7589520" y="48463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 / 11</a:t>
            </a:r>
            <a:endParaRPr lang="en-US" sz="950" dirty="0"/>
          </a:p>
        </p:txBody>
      </p:sp>
      <p:sp>
        <p:nvSpPr>
          <p:cNvPr id="5" name="Lead statement"/>
          <p:cNvSpPr txBox="1"/>
          <p:nvPr/>
        </p:nvSpPr>
        <p:spPr>
          <a:xfrm>
            <a:off x="399593" y="841248"/>
            <a:ext cx="8343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Laws, standards and RFCs inform the design; none is implemented as-is.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399593" y="1207008"/>
          <a:ext cx="8343900" cy="3264408"/>
        </p:xfrm>
        <a:graphic>
          <a:graphicData uri="http://schemas.openxmlformats.org/drawingml/2006/table">
            <a:tbl>
              <a:tblPr/>
              <a:tblGrid>
                <a:gridCol w="2331720"/>
                <a:gridCol w="3108960"/>
                <a:gridCol w="2903220"/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Source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What it contributes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Design implication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India: DPDP Act 2023, DPDP Rules 2025, MeitY framework [1][2][3]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Notice and consent for specified purposes; withdrawal of consent and stopping processing after withdrawal.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Model grant and withdrawal per purpose. Verify exact provisions before any legal statement.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GDPR, Reg. (EU) 2016/679, Arts. 5(1)(b), 6(1)(a), 7 [4]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Purpose limitation; consent as a lawful basis; ability to demonstrate consent; withdrawing as easy as giving.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Keep evidence for every decision; treat withdrawal as a first-class event.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NIST FIPS 180-4, Secure Hash Standard [5]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Specifies the SHA-256 algorithm.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Hash each notice version; store the digest with every decision.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RFC 7662 Token Introspection; RFC 7009 Token Revocation [6][7]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 resource server can ask whether a token is currently active; a token can be revoked.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Analogy only: the enforcement layer asks for current consent state on each request. OAuth is not implemented.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RFC 8785, JSON Canonicalization Scheme [8]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Deterministic JSON serialisation for hashing.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Optionally canonicalise structured notice content so equal content gives equal hashes.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ISO/IEC 29184:2020; Kantara Consent Receipt v1.1 [9][10]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Guidance on online privacy notices and consent; a record format for consent transactions.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Record purpose, notice version, event type, timestamp and subject.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nav"/>
          <p:cNvSpPr txBox="1"/>
          <p:nvPr/>
        </p:nvSpPr>
        <p:spPr>
          <a:xfrm>
            <a:off x="0" y="82296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3  Proposed Solution</a:t>
            </a:r>
            <a:endParaRPr lang="en-US" sz="950" dirty="0"/>
          </a:p>
        </p:txBody>
      </p:sp>
      <p:sp>
        <p:nvSpPr>
          <p:cNvPr id="3" name="Slide title"/>
          <p:cNvSpPr txBox="1"/>
          <p:nvPr/>
        </p:nvSpPr>
        <p:spPr>
          <a:xfrm>
            <a:off x="399593" y="365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25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Proposed Solution</a:t>
            </a:r>
            <a:endParaRPr lang="en-US" sz="2300" dirty="0"/>
          </a:p>
        </p:txBody>
      </p:sp>
      <p:sp>
        <p:nvSpPr>
          <p:cNvPr id="4" name="Page number"/>
          <p:cNvSpPr txBox="1"/>
          <p:nvPr/>
        </p:nvSpPr>
        <p:spPr>
          <a:xfrm>
            <a:off x="7589520" y="48463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 / 11</a:t>
            </a:r>
            <a:endParaRPr lang="en-US" sz="950" dirty="0"/>
          </a:p>
        </p:txBody>
      </p:sp>
      <p:sp>
        <p:nvSpPr>
          <p:cNvPr id="5" name="Lead statement"/>
          <p:cNvSpPr txBox="1"/>
          <p:nvPr/>
        </p:nvSpPr>
        <p:spPr>
          <a:xfrm>
            <a:off x="399593" y="841248"/>
            <a:ext cx="8343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ConsentGuard: record, version, enforce and audit every consent decision.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99593" y="1188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Three separate purposes (synthetic examples)</a:t>
            </a:r>
            <a:endParaRPr lang="en-US" sz="1150" dirty="0"/>
          </a:p>
        </p:txBody>
      </p:sp>
      <p:sp>
        <p:nvSpPr>
          <p:cNvPr id="7" name="Purpose 1"/>
          <p:cNvSpPr/>
          <p:nvPr/>
        </p:nvSpPr>
        <p:spPr>
          <a:xfrm>
            <a:off x="399593" y="14173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EF0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54457" y="144475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P1  Service notifications</a:t>
            </a:r>
            <a:endParaRPr lang="en-US" sz="1200" dirty="0"/>
          </a:p>
        </p:txBody>
      </p:sp>
      <p:sp>
        <p:nvSpPr>
          <p:cNvPr id="9" name="Purpose 2"/>
          <p:cNvSpPr/>
          <p:nvPr/>
        </p:nvSpPr>
        <p:spPr>
          <a:xfrm>
            <a:off x="3234233" y="14173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EF0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289097" y="144475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P2  Recommendations</a:t>
            </a:r>
            <a:endParaRPr lang="en-US" sz="1200" dirty="0"/>
          </a:p>
        </p:txBody>
      </p:sp>
      <p:sp>
        <p:nvSpPr>
          <p:cNvPr id="11" name="Purpose 3"/>
          <p:cNvSpPr/>
          <p:nvPr/>
        </p:nvSpPr>
        <p:spPr>
          <a:xfrm>
            <a:off x="6068873" y="14173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EEF0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123737" y="144475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P3  Anonymous usage analytics</a:t>
            </a:r>
            <a:endParaRPr lang="en-US" sz="1200" dirty="0"/>
          </a:p>
        </p:txBody>
      </p:sp>
      <p:sp>
        <p:nvSpPr>
          <p:cNvPr id="13" name="Component 1"/>
          <p:cNvSpPr/>
          <p:nvPr/>
        </p:nvSpPr>
        <p:spPr>
          <a:xfrm>
            <a:off x="399593" y="1984248"/>
            <a:ext cx="1536192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91033" y="20391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 registry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91033" y="2404872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 user and purpose: GRANTED or WITHDRAWN, with append-only history.</a:t>
            </a:r>
            <a:endParaRPr lang="en-US" sz="1000" dirty="0"/>
          </a:p>
        </p:txBody>
      </p:sp>
      <p:sp>
        <p:nvSpPr>
          <p:cNvPr id="16" name="Component 2"/>
          <p:cNvSpPr/>
          <p:nvPr/>
        </p:nvSpPr>
        <p:spPr>
          <a:xfrm>
            <a:off x="2092422" y="1984248"/>
            <a:ext cx="1536192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183862" y="20391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Notice versioning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183862" y="2404872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Notice version ID and SHA-256 hash stored with each decision.</a:t>
            </a:r>
            <a:endParaRPr lang="en-US" sz="1000" dirty="0"/>
          </a:p>
        </p:txBody>
      </p:sp>
      <p:sp>
        <p:nvSpPr>
          <p:cNvPr id="19" name="Component 3"/>
          <p:cNvSpPr/>
          <p:nvPr/>
        </p:nvSpPr>
        <p:spPr>
          <a:xfrm>
            <a:off x="3785250" y="1984248"/>
            <a:ext cx="1536192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3876690" y="20391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Enforcement layer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876690" y="2404872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Conceptual check of latest state, purpose and notice version; deny by default.</a:t>
            </a:r>
            <a:endParaRPr lang="en-US" sz="1000" dirty="0"/>
          </a:p>
        </p:txBody>
      </p:sp>
      <p:sp>
        <p:nvSpPr>
          <p:cNvPr id="22" name="Component 4"/>
          <p:cNvSpPr/>
          <p:nvPr/>
        </p:nvSpPr>
        <p:spPr>
          <a:xfrm>
            <a:off x="5478079" y="1984248"/>
            <a:ext cx="1536192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5569519" y="20391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Mock consumer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569519" y="2404872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Synthetic downstream API client; requests data per purpose.</a:t>
            </a:r>
            <a:endParaRPr lang="en-US" sz="1000" dirty="0"/>
          </a:p>
        </p:txBody>
      </p:sp>
      <p:sp>
        <p:nvSpPr>
          <p:cNvPr id="25" name="Component 5"/>
          <p:cNvSpPr/>
          <p:nvPr/>
        </p:nvSpPr>
        <p:spPr>
          <a:xfrm>
            <a:off x="7170908" y="1984248"/>
            <a:ext cx="1536192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7262348" y="20391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Audit trail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262348" y="2404872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Records events and allow/deny decisions; exportable as CSV or JSON.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99593" y="32461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Expected workflow (proposed)</a:t>
            </a:r>
            <a:endParaRPr lang="en-US" sz="1150" dirty="0"/>
          </a:p>
        </p:txBody>
      </p:sp>
      <p:sp>
        <p:nvSpPr>
          <p:cNvPr id="29" name="Workflow step 1"/>
          <p:cNvSpPr/>
          <p:nvPr/>
        </p:nvSpPr>
        <p:spPr>
          <a:xfrm>
            <a:off x="399593" y="3493008"/>
            <a:ext cx="1536192" cy="1207008"/>
          </a:xfrm>
          <a:prstGeom prst="roundRect">
            <a:avLst>
              <a:gd name="adj" fmla="val 6061"/>
            </a:avLst>
          </a:prstGeom>
          <a:solidFill>
            <a:srgbClr val="EEF0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91033" y="354787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  Grant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91033" y="3913632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User grants P1. Registry stores GRANTED, notice v1 and its SHA-256 hash.</a:t>
            </a:r>
            <a:endParaRPr lang="en-US" sz="1000" dirty="0"/>
          </a:p>
        </p:txBody>
      </p:sp>
      <p:sp>
        <p:nvSpPr>
          <p:cNvPr id="32" name="Flow arrow"/>
          <p:cNvSpPr/>
          <p:nvPr/>
        </p:nvSpPr>
        <p:spPr>
          <a:xfrm flipV="1">
            <a:off x="1944929" y="4032504"/>
            <a:ext cx="138349" cy="64008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Workflow step 2"/>
          <p:cNvSpPr/>
          <p:nvPr/>
        </p:nvSpPr>
        <p:spPr>
          <a:xfrm>
            <a:off x="2092422" y="3493008"/>
            <a:ext cx="1536192" cy="1207008"/>
          </a:xfrm>
          <a:prstGeom prst="roundRect">
            <a:avLst>
              <a:gd name="adj" fmla="val 6061"/>
            </a:avLst>
          </a:prstGeom>
          <a:solidFill>
            <a:srgbClr val="EEF0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2183862" y="354787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  Authorized request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2183862" y="3913632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Consumer requests P1 data. Check passes: ALLOW, decision logged.</a:t>
            </a:r>
            <a:endParaRPr lang="en-US" sz="1000" dirty="0"/>
          </a:p>
        </p:txBody>
      </p:sp>
      <p:sp>
        <p:nvSpPr>
          <p:cNvPr id="36" name="Flow arrow"/>
          <p:cNvSpPr/>
          <p:nvPr/>
        </p:nvSpPr>
        <p:spPr>
          <a:xfrm flipV="1">
            <a:off x="3637758" y="4032504"/>
            <a:ext cx="138349" cy="64008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" name="Workflow step 3"/>
          <p:cNvSpPr/>
          <p:nvPr/>
        </p:nvSpPr>
        <p:spPr>
          <a:xfrm>
            <a:off x="3785250" y="3493008"/>
            <a:ext cx="1536192" cy="1207008"/>
          </a:xfrm>
          <a:prstGeom prst="roundRect">
            <a:avLst>
              <a:gd name="adj" fmla="val 6061"/>
            </a:avLst>
          </a:prstGeom>
          <a:solidFill>
            <a:srgbClr val="EEF0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3876690" y="354787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 Withdrawal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876690" y="3913632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User withdraws P1. A new WITHDRAWN event is appended.</a:t>
            </a:r>
            <a:endParaRPr lang="en-US" sz="1000" dirty="0"/>
          </a:p>
        </p:txBody>
      </p:sp>
      <p:sp>
        <p:nvSpPr>
          <p:cNvPr id="40" name="Flow arrow"/>
          <p:cNvSpPr/>
          <p:nvPr/>
        </p:nvSpPr>
        <p:spPr>
          <a:xfrm flipV="1">
            <a:off x="5330586" y="4032504"/>
            <a:ext cx="138349" cy="64008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1" name="Workflow step 4"/>
          <p:cNvSpPr/>
          <p:nvPr/>
        </p:nvSpPr>
        <p:spPr>
          <a:xfrm>
            <a:off x="5478079" y="3493008"/>
            <a:ext cx="1536192" cy="1207008"/>
          </a:xfrm>
          <a:prstGeom prst="roundRect">
            <a:avLst>
              <a:gd name="adj" fmla="val 6061"/>
            </a:avLst>
          </a:pr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569519" y="354787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  Denied request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569519" y="3913632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Same request again: DENY (withdrawn). Denial is logged.</a:t>
            </a:r>
            <a:endParaRPr lang="en-US" sz="1000" dirty="0"/>
          </a:p>
        </p:txBody>
      </p:sp>
      <p:sp>
        <p:nvSpPr>
          <p:cNvPr id="44" name="Flow arrow"/>
          <p:cNvSpPr/>
          <p:nvPr/>
        </p:nvSpPr>
        <p:spPr>
          <a:xfrm flipV="1">
            <a:off x="7023415" y="4032504"/>
            <a:ext cx="138349" cy="64008"/>
          </a:xfrm>
          <a:prstGeom prst="line">
            <a:avLst/>
          </a:prstGeom>
          <a:noFill/>
          <a:ln w="15875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5" name="Workflow step 5"/>
          <p:cNvSpPr/>
          <p:nvPr/>
        </p:nvSpPr>
        <p:spPr>
          <a:xfrm>
            <a:off x="7170908" y="3493008"/>
            <a:ext cx="1536192" cy="1207008"/>
          </a:xfrm>
          <a:prstGeom prst="roundRect">
            <a:avLst>
              <a:gd name="adj" fmla="val 6061"/>
            </a:avLst>
          </a:prstGeom>
          <a:solidFill>
            <a:srgbClr val="EEF0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7262348" y="354787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  Notice change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262348" y="3913632"/>
            <a:ext cx="13533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Notice v2 and new hash registered. Consent on v1 needs re-confirmation.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nav"/>
          <p:cNvSpPr txBox="1"/>
          <p:nvPr/>
        </p:nvSpPr>
        <p:spPr>
          <a:xfrm>
            <a:off x="0" y="82296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3  Solution Optimization</a:t>
            </a:r>
            <a:endParaRPr lang="en-US" sz="950" dirty="0"/>
          </a:p>
        </p:txBody>
      </p:sp>
      <p:sp>
        <p:nvSpPr>
          <p:cNvPr id="3" name="Slide title"/>
          <p:cNvSpPr txBox="1"/>
          <p:nvPr/>
        </p:nvSpPr>
        <p:spPr>
          <a:xfrm>
            <a:off x="399593" y="365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25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Optimization Proposed</a:t>
            </a:r>
            <a:endParaRPr lang="en-US" sz="2300" dirty="0"/>
          </a:p>
        </p:txBody>
      </p:sp>
      <p:sp>
        <p:nvSpPr>
          <p:cNvPr id="4" name="Page number"/>
          <p:cNvSpPr txBox="1"/>
          <p:nvPr/>
        </p:nvSpPr>
        <p:spPr>
          <a:xfrm>
            <a:off x="7589520" y="48463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 / 11</a:t>
            </a:r>
            <a:endParaRPr lang="en-US" sz="950" dirty="0"/>
          </a:p>
        </p:txBody>
      </p:sp>
      <p:sp>
        <p:nvSpPr>
          <p:cNvPr id="5" name="Lead statement"/>
          <p:cNvSpPr txBox="1"/>
          <p:nvPr/>
        </p:nvSpPr>
        <p:spPr>
          <a:xfrm>
            <a:off x="399593" y="841248"/>
            <a:ext cx="8343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From a passive consent record to an enforceable decision.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399593" y="1234440"/>
          <a:ext cx="8343900" cy="3127248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58902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Aspect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Before: record-only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After: ConsentGuard (proposed)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5227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Purpose scope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One broad flag or unclear scope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Separate state for each of 3 purposes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5227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Consent history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Only the latest status kept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Append-only events with timestamps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5227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Notice tracking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Notice changes not linked to decisions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Notice version + SHA-256 per decision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5227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Access check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Downstream trusts a stale status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Current state checked on every request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5227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Unknown state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Missing consent handled ambiguously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Deny by default if unverifiable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5227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Evidence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Manual log inspection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Audit trail with CSV / JSON export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b="1" dirty="0">
                          <a:solidFill>
                            <a:srgbClr val="05227A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Testing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Ad hoc checks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Planned suite of 12+ lifecycle tests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 txBox="1"/>
          <p:nvPr/>
        </p:nvSpPr>
        <p:spPr>
          <a:xfrm>
            <a:off x="399593" y="4526280"/>
            <a:ext cx="8343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i="1" dirty="0">
                <a:solidFill>
                  <a:srgbClr val="5C5C5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These are intended design improvements; no benchmark, performance figure or completed test result is claimed.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nav"/>
          <p:cNvSpPr txBox="1"/>
          <p:nvPr/>
        </p:nvSpPr>
        <p:spPr>
          <a:xfrm>
            <a:off x="0" y="82296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3  Architecture Design</a:t>
            </a:r>
            <a:endParaRPr lang="en-US" sz="950" dirty="0"/>
          </a:p>
        </p:txBody>
      </p:sp>
      <p:sp>
        <p:nvSpPr>
          <p:cNvPr id="3" name="Slide title"/>
          <p:cNvSpPr txBox="1"/>
          <p:nvPr/>
        </p:nvSpPr>
        <p:spPr>
          <a:xfrm>
            <a:off x="399593" y="365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25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Solution Architecture &amp; Design</a:t>
            </a:r>
            <a:endParaRPr lang="en-US" sz="2300" dirty="0"/>
          </a:p>
        </p:txBody>
      </p:sp>
      <p:sp>
        <p:nvSpPr>
          <p:cNvPr id="4" name="Page number"/>
          <p:cNvSpPr txBox="1"/>
          <p:nvPr/>
        </p:nvSpPr>
        <p:spPr>
          <a:xfrm>
            <a:off x="7589520" y="48463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 / 11</a:t>
            </a:r>
            <a:endParaRPr lang="en-US" sz="950" dirty="0"/>
          </a:p>
        </p:txBody>
      </p:sp>
      <p:sp>
        <p:nvSpPr>
          <p:cNvPr id="5" name="Lead statement"/>
          <p:cNvSpPr txBox="1"/>
          <p:nvPr/>
        </p:nvSpPr>
        <p:spPr>
          <a:xfrm>
            <a:off x="399593" y="841248"/>
            <a:ext cx="8343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Conceptual component view of the proposed system (UML-style).</a:t>
            </a:r>
            <a:endParaRPr lang="en-US" sz="1500" dirty="0"/>
          </a:p>
        </p:txBody>
      </p:sp>
      <p:sp>
        <p:nvSpPr>
          <p:cNvPr id="6" name="Actor: user"/>
          <p:cNvSpPr/>
          <p:nvPr/>
        </p:nvSpPr>
        <p:spPr>
          <a:xfrm>
            <a:off x="411480" y="1280160"/>
            <a:ext cx="128016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66344" y="1307592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Synthetic user</a:t>
            </a:r>
            <a:endParaRPr lang="en-US" sz="11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view notice</a:t>
            </a:r>
            <a:endParaRPr lang="en-US" sz="1100" dirty="0"/>
          </a:p>
        </p:txBody>
      </p:sp>
      <p:sp>
        <p:nvSpPr>
          <p:cNvPr id="8" name="Consent interface"/>
          <p:cNvSpPr/>
          <p:nvPr/>
        </p:nvSpPr>
        <p:spPr>
          <a:xfrm>
            <a:off x="411480" y="2240280"/>
            <a:ext cx="128016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66344" y="2267712"/>
            <a:ext cx="11704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 interface</a:t>
            </a:r>
            <a:endParaRPr lang="en-US" sz="11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grant / withdraw</a:t>
            </a:r>
            <a:endParaRPr lang="en-US" sz="1100" dirty="0"/>
          </a:p>
        </p:txBody>
      </p:sp>
      <p:sp>
        <p:nvSpPr>
          <p:cNvPr id="10" name="Audit export"/>
          <p:cNvSpPr/>
          <p:nvPr/>
        </p:nvSpPr>
        <p:spPr>
          <a:xfrm>
            <a:off x="411480" y="3200400"/>
            <a:ext cx="1280160" cy="566928"/>
          </a:xfrm>
          <a:prstGeom prst="rect">
            <a:avLst/>
          </a:prstGeom>
          <a:solidFill>
            <a:srgbClr val="F2F2F2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66344" y="3227832"/>
            <a:ext cx="117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Audit export</a:t>
            </a:r>
            <a:endParaRPr lang="en-US" sz="11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CSV / JSON</a:t>
            </a:r>
            <a:endParaRPr lang="en-US" sz="1100" dirty="0"/>
          </a:p>
        </p:txBody>
      </p:sp>
      <p:sp>
        <p:nvSpPr>
          <p:cNvPr id="12" name="Flow arrow"/>
          <p:cNvSpPr/>
          <p:nvPr/>
        </p:nvSpPr>
        <p:spPr>
          <a:xfrm>
            <a:off x="1051560" y="1847088"/>
            <a:ext cx="0" cy="393192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rust boundary"/>
          <p:cNvSpPr/>
          <p:nvPr/>
        </p:nvSpPr>
        <p:spPr>
          <a:xfrm>
            <a:off x="2057400" y="1234440"/>
            <a:ext cx="4297680" cy="2606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5227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2194560" y="12710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ConsentGuard backend (trust boundary)</a:t>
            </a:r>
            <a:endParaRPr lang="en-US" sz="1050" dirty="0"/>
          </a:p>
        </p:txBody>
      </p:sp>
      <p:sp>
        <p:nvSpPr>
          <p:cNvPr id="15" name="Backend API"/>
          <p:cNvSpPr/>
          <p:nvPr/>
        </p:nvSpPr>
        <p:spPr>
          <a:xfrm>
            <a:off x="2194560" y="1536192"/>
            <a:ext cx="4023360" cy="384048"/>
          </a:xfrm>
          <a:prstGeom prst="rect">
            <a:avLst/>
          </a:prstGeom>
          <a:solidFill>
            <a:srgbClr val="EEF0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2249424" y="156362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Backend API 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validates every request</a:t>
            </a:r>
            <a:endParaRPr lang="en-US" sz="1100" dirty="0"/>
          </a:p>
        </p:txBody>
      </p:sp>
      <p:sp>
        <p:nvSpPr>
          <p:cNvPr id="17" name="Consent registry"/>
          <p:cNvSpPr/>
          <p:nvPr/>
        </p:nvSpPr>
        <p:spPr>
          <a:xfrm>
            <a:off x="2194560" y="2194560"/>
            <a:ext cx="187452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2249424" y="2221992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 registry</a:t>
            </a:r>
            <a:endParaRPr lang="en-US" sz="11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purpose, state, events</a:t>
            </a:r>
            <a:endParaRPr lang="en-US" sz="1100" dirty="0"/>
          </a:p>
        </p:txBody>
      </p:sp>
      <p:sp>
        <p:nvSpPr>
          <p:cNvPr id="19" name="Notice version manager"/>
          <p:cNvSpPr/>
          <p:nvPr/>
        </p:nvSpPr>
        <p:spPr>
          <a:xfrm>
            <a:off x="4343400" y="2194560"/>
            <a:ext cx="187452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398264" y="2221992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Notice version manager</a:t>
            </a:r>
            <a:endParaRPr lang="en-US" sz="11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version + SHA-256</a:t>
            </a:r>
            <a:endParaRPr lang="en-US" sz="1100" dirty="0"/>
          </a:p>
        </p:txBody>
      </p:sp>
      <p:sp>
        <p:nvSpPr>
          <p:cNvPr id="21" name="Audit trail"/>
          <p:cNvSpPr/>
          <p:nvPr/>
        </p:nvSpPr>
        <p:spPr>
          <a:xfrm>
            <a:off x="2194560" y="3108960"/>
            <a:ext cx="18745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249424" y="3136392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Audit trail</a:t>
            </a:r>
            <a:endParaRPr lang="en-US" sz="11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events + decisions</a:t>
            </a:r>
            <a:endParaRPr lang="en-US" sz="1100" dirty="0"/>
          </a:p>
        </p:txBody>
      </p:sp>
      <p:sp>
        <p:nvSpPr>
          <p:cNvPr id="23" name="Enforcement layer"/>
          <p:cNvSpPr/>
          <p:nvPr/>
        </p:nvSpPr>
        <p:spPr>
          <a:xfrm>
            <a:off x="4343400" y="3108960"/>
            <a:ext cx="1874520" cy="566928"/>
          </a:xfrm>
          <a:prstGeom prst="rect">
            <a:avLst/>
          </a:prstGeom>
          <a:solidFill>
            <a:srgbClr val="EEF0FF"/>
          </a:solidFill>
          <a:ln w="25400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4398264" y="3136392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Enforcement layer</a:t>
            </a:r>
            <a:endParaRPr lang="en-US" sz="11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deny by default</a:t>
            </a:r>
            <a:endParaRPr lang="en-US" sz="1100" dirty="0"/>
          </a:p>
        </p:txBody>
      </p:sp>
      <p:sp>
        <p:nvSpPr>
          <p:cNvPr id="25" name="Mock consumer"/>
          <p:cNvSpPr/>
          <p:nvPr/>
        </p:nvSpPr>
        <p:spPr>
          <a:xfrm>
            <a:off x="7269480" y="3017520"/>
            <a:ext cx="146304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7324344" y="3044952"/>
            <a:ext cx="1353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Mock downstream consumer</a:t>
            </a:r>
            <a:endParaRPr lang="en-US" sz="11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synthetic data API</a:t>
            </a:r>
            <a:endParaRPr lang="en-US" sz="1100" dirty="0"/>
          </a:p>
        </p:txBody>
      </p:sp>
      <p:sp>
        <p:nvSpPr>
          <p:cNvPr id="27" name="Flow arrow"/>
          <p:cNvSpPr/>
          <p:nvPr/>
        </p:nvSpPr>
        <p:spPr>
          <a:xfrm flipV="1">
            <a:off x="1691640" y="1755648"/>
            <a:ext cx="502920" cy="82296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Flow arrow"/>
          <p:cNvSpPr/>
          <p:nvPr/>
        </p:nvSpPr>
        <p:spPr>
          <a:xfrm>
            <a:off x="3131820" y="1920240"/>
            <a:ext cx="0" cy="27432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Flow arrow"/>
          <p:cNvSpPr/>
          <p:nvPr/>
        </p:nvSpPr>
        <p:spPr>
          <a:xfrm>
            <a:off x="5280660" y="1920240"/>
            <a:ext cx="0" cy="27432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Flow arrow"/>
          <p:cNvSpPr/>
          <p:nvPr/>
        </p:nvSpPr>
        <p:spPr>
          <a:xfrm>
            <a:off x="3131820" y="2852928"/>
            <a:ext cx="1623060" cy="256032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Flow arrow"/>
          <p:cNvSpPr/>
          <p:nvPr/>
        </p:nvSpPr>
        <p:spPr>
          <a:xfrm>
            <a:off x="5280660" y="2852928"/>
            <a:ext cx="0" cy="256032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Flow arrow"/>
          <p:cNvSpPr/>
          <p:nvPr/>
        </p:nvSpPr>
        <p:spPr>
          <a:xfrm flipH="1">
            <a:off x="4069080" y="3493008"/>
            <a:ext cx="274320" cy="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Flow arrow"/>
          <p:cNvSpPr/>
          <p:nvPr/>
        </p:nvSpPr>
        <p:spPr>
          <a:xfrm flipH="1">
            <a:off x="1691640" y="3493008"/>
            <a:ext cx="502920" cy="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Flow arrow"/>
          <p:cNvSpPr/>
          <p:nvPr/>
        </p:nvSpPr>
        <p:spPr>
          <a:xfrm flipH="1">
            <a:off x="6355080" y="3200400"/>
            <a:ext cx="914400" cy="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Flow arrow"/>
          <p:cNvSpPr/>
          <p:nvPr/>
        </p:nvSpPr>
        <p:spPr>
          <a:xfrm>
            <a:off x="6355080" y="3584448"/>
            <a:ext cx="914400" cy="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373368" y="294436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request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361188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ALLOW / DENY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7269480" y="132588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i="1" dirty="0">
                <a:solidFill>
                  <a:srgbClr val="5C5C5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backend decides access; the interface only shows the result and cannot authorise a request on its own.</a:t>
            </a:r>
            <a:endParaRPr lang="en-US" sz="1050" dirty="0"/>
          </a:p>
        </p:txBody>
      </p:sp>
      <p:sp>
        <p:nvSpPr>
          <p:cNvPr id="39" name="Figure caption"/>
          <p:cNvSpPr txBox="1"/>
          <p:nvPr/>
        </p:nvSpPr>
        <p:spPr>
          <a:xfrm>
            <a:off x="0" y="41605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Figure: </a:t>
            </a:r>
            <a:r>
              <a:rPr lang="en-US" sz="12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ConsentGuard conceptual architecture (proposed, not implemented)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399593" y="4526280"/>
            <a:ext cx="834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i="1" dirty="0">
                <a:solidFill>
                  <a:srgbClr val="5C5C5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Components are conceptual; no code or deployment exists yet.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nav"/>
          <p:cNvSpPr txBox="1"/>
          <p:nvPr/>
        </p:nvSpPr>
        <p:spPr>
          <a:xfrm>
            <a:off x="0" y="82296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3  Data Flow Diagram</a:t>
            </a:r>
            <a:endParaRPr lang="en-US" sz="950" dirty="0"/>
          </a:p>
        </p:txBody>
      </p:sp>
      <p:sp>
        <p:nvSpPr>
          <p:cNvPr id="3" name="Slide title"/>
          <p:cNvSpPr txBox="1"/>
          <p:nvPr/>
        </p:nvSpPr>
        <p:spPr>
          <a:xfrm>
            <a:off x="399593" y="365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25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Flow Diagram</a:t>
            </a:r>
            <a:endParaRPr lang="en-US" sz="2300" dirty="0"/>
          </a:p>
        </p:txBody>
      </p:sp>
      <p:sp>
        <p:nvSpPr>
          <p:cNvPr id="4" name="Page number"/>
          <p:cNvSpPr txBox="1"/>
          <p:nvPr/>
        </p:nvSpPr>
        <p:spPr>
          <a:xfrm>
            <a:off x="7589520" y="48463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 / 11</a:t>
            </a:r>
            <a:endParaRPr lang="en-US" sz="950" dirty="0"/>
          </a:p>
        </p:txBody>
      </p:sp>
      <p:sp>
        <p:nvSpPr>
          <p:cNvPr id="5" name="Lead statement"/>
          <p:cNvSpPr txBox="1"/>
          <p:nvPr/>
        </p:nvSpPr>
        <p:spPr>
          <a:xfrm>
            <a:off x="399593" y="841248"/>
            <a:ext cx="8343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Level-1 data flow: how a consent decision becomes an access decision.</a:t>
            </a:r>
            <a:endParaRPr lang="en-US" sz="1500" dirty="0"/>
          </a:p>
        </p:txBody>
      </p:sp>
      <p:sp>
        <p:nvSpPr>
          <p:cNvPr id="6" name="Entity: user"/>
          <p:cNvSpPr/>
          <p:nvPr/>
        </p:nvSpPr>
        <p:spPr>
          <a:xfrm>
            <a:off x="365760" y="1280160"/>
            <a:ext cx="11430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20624" y="1307592"/>
            <a:ext cx="1033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Synthetic user</a:t>
            </a:r>
            <a:endParaRPr lang="en-US" sz="1100" dirty="0"/>
          </a:p>
        </p:txBody>
      </p:sp>
      <p:sp>
        <p:nvSpPr>
          <p:cNvPr id="8" name="Entity: consumer"/>
          <p:cNvSpPr/>
          <p:nvPr/>
        </p:nvSpPr>
        <p:spPr>
          <a:xfrm>
            <a:off x="365760" y="2286000"/>
            <a:ext cx="11430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420624" y="2313432"/>
            <a:ext cx="1033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Mock downstream consumer</a:t>
            </a:r>
            <a:endParaRPr lang="en-US" sz="1100" dirty="0"/>
          </a:p>
        </p:txBody>
      </p:sp>
      <p:sp>
        <p:nvSpPr>
          <p:cNvPr id="10" name="Entity: operator"/>
          <p:cNvSpPr/>
          <p:nvPr/>
        </p:nvSpPr>
        <p:spPr>
          <a:xfrm>
            <a:off x="365760" y="3291840"/>
            <a:ext cx="11430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20624" y="3319272"/>
            <a:ext cx="1033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Service operator</a:t>
            </a:r>
            <a:endParaRPr lang="en-US" sz="1100" dirty="0"/>
          </a:p>
        </p:txBody>
      </p:sp>
      <p:sp>
        <p:nvSpPr>
          <p:cNvPr id="12" name="Process 1.0"/>
          <p:cNvSpPr/>
          <p:nvPr/>
        </p:nvSpPr>
        <p:spPr>
          <a:xfrm>
            <a:off x="2514600" y="1280160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EEF0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2569464" y="1307592"/>
            <a:ext cx="1581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1.0 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Record consent decision</a:t>
            </a:r>
            <a:endParaRPr lang="en-US" sz="1100" dirty="0"/>
          </a:p>
        </p:txBody>
      </p:sp>
      <p:sp>
        <p:nvSpPr>
          <p:cNvPr id="14" name="Process 3.0"/>
          <p:cNvSpPr/>
          <p:nvPr/>
        </p:nvSpPr>
        <p:spPr>
          <a:xfrm>
            <a:off x="2514600" y="2286000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EEF0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2569464" y="2313432"/>
            <a:ext cx="1581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3.0 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Evaluate access request</a:t>
            </a:r>
            <a:endParaRPr lang="en-US" sz="1100" dirty="0"/>
          </a:p>
        </p:txBody>
      </p:sp>
      <p:sp>
        <p:nvSpPr>
          <p:cNvPr id="16" name="Process 2.0"/>
          <p:cNvSpPr/>
          <p:nvPr/>
        </p:nvSpPr>
        <p:spPr>
          <a:xfrm>
            <a:off x="2514600" y="3291840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EEF0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569464" y="3319272"/>
            <a:ext cx="1581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2.0 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Register notice version</a:t>
            </a:r>
            <a:endParaRPr lang="en-US" sz="1100" dirty="0"/>
          </a:p>
        </p:txBody>
      </p:sp>
      <p:sp>
        <p:nvSpPr>
          <p:cNvPr id="18" name="Store D1"/>
          <p:cNvSpPr/>
          <p:nvPr/>
        </p:nvSpPr>
        <p:spPr>
          <a:xfrm>
            <a:off x="5257800" y="1280160"/>
            <a:ext cx="160020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312664" y="1307592"/>
            <a:ext cx="1490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D1 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 registry</a:t>
            </a:r>
            <a:endParaRPr lang="en-US" sz="1100" dirty="0"/>
          </a:p>
        </p:txBody>
      </p:sp>
      <p:sp>
        <p:nvSpPr>
          <p:cNvPr id="20" name="Store D2"/>
          <p:cNvSpPr/>
          <p:nvPr/>
        </p:nvSpPr>
        <p:spPr>
          <a:xfrm>
            <a:off x="5257800" y="3291840"/>
            <a:ext cx="160020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312664" y="3319272"/>
            <a:ext cx="1490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D2 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Notice versions</a:t>
            </a:r>
            <a:endParaRPr lang="en-US" sz="1100" dirty="0"/>
          </a:p>
        </p:txBody>
      </p:sp>
      <p:sp>
        <p:nvSpPr>
          <p:cNvPr id="22" name="Store D3"/>
          <p:cNvSpPr/>
          <p:nvPr/>
        </p:nvSpPr>
        <p:spPr>
          <a:xfrm>
            <a:off x="5257800" y="2286000"/>
            <a:ext cx="160020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5312664" y="2313432"/>
            <a:ext cx="1490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D3 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24" name="Output: export"/>
          <p:cNvSpPr/>
          <p:nvPr/>
        </p:nvSpPr>
        <p:spPr>
          <a:xfrm>
            <a:off x="7452360" y="2286000"/>
            <a:ext cx="128016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7507224" y="2313432"/>
            <a:ext cx="1170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Audit export (CSV / JSON)</a:t>
            </a:r>
            <a:endParaRPr lang="en-US" sz="1100" dirty="0"/>
          </a:p>
        </p:txBody>
      </p:sp>
      <p:sp>
        <p:nvSpPr>
          <p:cNvPr id="26" name="Flow arrow"/>
          <p:cNvSpPr/>
          <p:nvPr/>
        </p:nvSpPr>
        <p:spPr>
          <a:xfrm>
            <a:off x="1508760" y="1609344"/>
            <a:ext cx="1005840" cy="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1536192" y="122529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grant / withdraw</a:t>
            </a:r>
            <a:endParaRPr lang="en-US" sz="900" dirty="0"/>
          </a:p>
        </p:txBody>
      </p:sp>
      <p:sp>
        <p:nvSpPr>
          <p:cNvPr id="28" name="Flow arrow"/>
          <p:cNvSpPr/>
          <p:nvPr/>
        </p:nvSpPr>
        <p:spPr>
          <a:xfrm>
            <a:off x="4206240" y="1609344"/>
            <a:ext cx="1051560" cy="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4206240" y="13350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append event</a:t>
            </a:r>
            <a:endParaRPr lang="en-US" sz="950" dirty="0"/>
          </a:p>
        </p:txBody>
      </p:sp>
      <p:sp>
        <p:nvSpPr>
          <p:cNvPr id="30" name="Flow arrow"/>
          <p:cNvSpPr/>
          <p:nvPr/>
        </p:nvSpPr>
        <p:spPr>
          <a:xfrm>
            <a:off x="1508760" y="3621024"/>
            <a:ext cx="1005840" cy="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1536192" y="334670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publish notice</a:t>
            </a:r>
            <a:endParaRPr lang="en-US" sz="950" dirty="0"/>
          </a:p>
        </p:txBody>
      </p:sp>
      <p:sp>
        <p:nvSpPr>
          <p:cNvPr id="32" name="Flow arrow"/>
          <p:cNvSpPr/>
          <p:nvPr/>
        </p:nvSpPr>
        <p:spPr>
          <a:xfrm>
            <a:off x="4206240" y="3621024"/>
            <a:ext cx="1051560" cy="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233672" y="36484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version + hash</a:t>
            </a:r>
            <a:endParaRPr lang="en-US" sz="900" dirty="0"/>
          </a:p>
        </p:txBody>
      </p:sp>
      <p:sp>
        <p:nvSpPr>
          <p:cNvPr id="34" name="Flow arrow"/>
          <p:cNvSpPr/>
          <p:nvPr/>
        </p:nvSpPr>
        <p:spPr>
          <a:xfrm>
            <a:off x="1508760" y="2468880"/>
            <a:ext cx="1005840" cy="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1536192" y="219456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request</a:t>
            </a:r>
            <a:endParaRPr lang="en-US" sz="950" dirty="0"/>
          </a:p>
        </p:txBody>
      </p:sp>
      <p:sp>
        <p:nvSpPr>
          <p:cNvPr id="36" name="Flow arrow"/>
          <p:cNvSpPr/>
          <p:nvPr/>
        </p:nvSpPr>
        <p:spPr>
          <a:xfrm flipH="1">
            <a:off x="1508760" y="2761488"/>
            <a:ext cx="1005840" cy="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1536192" y="27889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ALLOW / DENY</a:t>
            </a:r>
            <a:endParaRPr lang="en-US" sz="900" dirty="0"/>
          </a:p>
        </p:txBody>
      </p:sp>
      <p:sp>
        <p:nvSpPr>
          <p:cNvPr id="38" name="Flow arrow"/>
          <p:cNvSpPr/>
          <p:nvPr/>
        </p:nvSpPr>
        <p:spPr>
          <a:xfrm flipH="1">
            <a:off x="4069080" y="1938528"/>
            <a:ext cx="1600200" cy="347472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4297680" y="184708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900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latest state</a:t>
            </a:r>
            <a:endParaRPr lang="en-US" sz="900" dirty="0"/>
          </a:p>
        </p:txBody>
      </p:sp>
      <p:sp>
        <p:nvSpPr>
          <p:cNvPr id="40" name="Flow arrow"/>
          <p:cNvSpPr/>
          <p:nvPr/>
        </p:nvSpPr>
        <p:spPr>
          <a:xfrm flipH="1" flipV="1">
            <a:off x="4069080" y="2944368"/>
            <a:ext cx="1600200" cy="347472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4206240" y="26791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100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current version</a:t>
            </a:r>
            <a:endParaRPr lang="en-US" sz="1100" dirty="0"/>
          </a:p>
        </p:txBody>
      </p:sp>
      <p:sp>
        <p:nvSpPr>
          <p:cNvPr id="42" name="Flow arrow"/>
          <p:cNvSpPr/>
          <p:nvPr/>
        </p:nvSpPr>
        <p:spPr>
          <a:xfrm>
            <a:off x="4206240" y="2615184"/>
            <a:ext cx="1051560" cy="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4206240" y="23408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decision record</a:t>
            </a:r>
            <a:endParaRPr lang="en-US" sz="950" dirty="0"/>
          </a:p>
        </p:txBody>
      </p:sp>
      <p:sp>
        <p:nvSpPr>
          <p:cNvPr id="44" name="Flow arrow"/>
          <p:cNvSpPr/>
          <p:nvPr/>
        </p:nvSpPr>
        <p:spPr>
          <a:xfrm>
            <a:off x="6858000" y="2615184"/>
            <a:ext cx="594360" cy="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 txBox="1"/>
          <p:nvPr/>
        </p:nvSpPr>
        <p:spPr>
          <a:xfrm>
            <a:off x="6858000" y="234086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export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103120" y="4114800"/>
            <a:ext cx="27432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2423160" y="4096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External entity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0" y="4114800"/>
            <a:ext cx="274320" cy="182880"/>
          </a:xfrm>
          <a:prstGeom prst="roundRect">
            <a:avLst>
              <a:gd name="adj" fmla="val 40000"/>
            </a:avLst>
          </a:prstGeom>
          <a:solidFill>
            <a:srgbClr val="EEF0FF"/>
          </a:solidFill>
          <a:ln w="15875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3977640" y="40965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Process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00600" y="4114800"/>
            <a:ext cx="274320" cy="1828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5120640" y="40965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store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399593" y="4389120"/>
            <a:ext cx="8343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i="1" dirty="0">
                <a:solidFill>
                  <a:srgbClr val="5C5C5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Notice-change check: a request is denied if the consent’s notice version differs from the current version in D2 (proposed policy).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nav"/>
          <p:cNvSpPr txBox="1"/>
          <p:nvPr/>
        </p:nvSpPr>
        <p:spPr>
          <a:xfrm>
            <a:off x="0" y="82296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3  Deployment Timeline</a:t>
            </a:r>
            <a:endParaRPr lang="en-US" sz="950" dirty="0"/>
          </a:p>
        </p:txBody>
      </p:sp>
      <p:sp>
        <p:nvSpPr>
          <p:cNvPr id="3" name="Slide title"/>
          <p:cNvSpPr txBox="1"/>
          <p:nvPr/>
        </p:nvSpPr>
        <p:spPr>
          <a:xfrm>
            <a:off x="399593" y="365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25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Deployment Timeline</a:t>
            </a:r>
            <a:endParaRPr lang="en-US" sz="2300" dirty="0"/>
          </a:p>
        </p:txBody>
      </p:sp>
      <p:sp>
        <p:nvSpPr>
          <p:cNvPr id="4" name="Page number"/>
          <p:cNvSpPr txBox="1"/>
          <p:nvPr/>
        </p:nvSpPr>
        <p:spPr>
          <a:xfrm>
            <a:off x="7589520" y="48463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 / 11</a:t>
            </a:r>
            <a:endParaRPr lang="en-US" sz="950" dirty="0"/>
          </a:p>
        </p:txBody>
      </p:sp>
      <p:sp>
        <p:nvSpPr>
          <p:cNvPr id="5" name="Lead statement"/>
          <p:cNvSpPr txBox="1"/>
          <p:nvPr/>
        </p:nvSpPr>
        <p:spPr>
          <a:xfrm>
            <a:off x="399593" y="841248"/>
            <a:ext cx="8343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Planned milestones and methodology (not yet executed).</a:t>
            </a:r>
            <a:endParaRPr lang="en-US" sz="1500" dirty="0"/>
          </a:p>
        </p:txBody>
      </p:sp>
      <p:sp>
        <p:nvSpPr>
          <p:cNvPr id="6" name="Flow arrow"/>
          <p:cNvSpPr/>
          <p:nvPr/>
        </p:nvSpPr>
        <p:spPr>
          <a:xfrm>
            <a:off x="1039673" y="1399032"/>
            <a:ext cx="7063740" cy="0"/>
          </a:xfrm>
          <a:prstGeom prst="line">
            <a:avLst/>
          </a:prstGeom>
          <a:noFill/>
          <a:ln w="19050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Milestone 1"/>
          <p:cNvSpPr/>
          <p:nvPr/>
        </p:nvSpPr>
        <p:spPr>
          <a:xfrm>
            <a:off x="875081" y="1234440"/>
            <a:ext cx="329184" cy="329184"/>
          </a:xfrm>
          <a:prstGeom prst="ellips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875081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Phase 1"/>
          <p:cNvSpPr/>
          <p:nvPr/>
        </p:nvSpPr>
        <p:spPr>
          <a:xfrm>
            <a:off x="399593" y="1664208"/>
            <a:ext cx="1280160" cy="1325880"/>
          </a:xfrm>
          <a:prstGeom prst="rect">
            <a:avLst/>
          </a:prstGeom>
          <a:solidFill>
            <a:srgbClr val="EEF0FF"/>
          </a:solidFill>
          <a:ln w="9525">
            <a:solidFill>
              <a:srgbClr val="B8B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72745" y="171907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Define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72745" y="1984248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Purposes, data fields and notice policy.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2745" y="265176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i="1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Requirement checklist</a:t>
            </a:r>
            <a:endParaRPr lang="en-US" sz="950" dirty="0"/>
          </a:p>
        </p:txBody>
      </p:sp>
      <p:sp>
        <p:nvSpPr>
          <p:cNvPr id="13" name="Milestone 2"/>
          <p:cNvSpPr/>
          <p:nvPr/>
        </p:nvSpPr>
        <p:spPr>
          <a:xfrm>
            <a:off x="2287829" y="1234440"/>
            <a:ext cx="329184" cy="329184"/>
          </a:xfrm>
          <a:prstGeom prst="ellips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2287829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Phase 2"/>
          <p:cNvSpPr/>
          <p:nvPr/>
        </p:nvSpPr>
        <p:spPr>
          <a:xfrm>
            <a:off x="1812341" y="1664208"/>
            <a:ext cx="1280160" cy="1325880"/>
          </a:xfrm>
          <a:prstGeom prst="rect">
            <a:avLst/>
          </a:prstGeom>
          <a:solidFill>
            <a:srgbClr val="EEF0FF"/>
          </a:solidFill>
          <a:ln w="9525">
            <a:solidFill>
              <a:srgbClr val="B8B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1885493" y="171907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Design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885493" y="1984248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Architecture, data flow and record schemas.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885493" y="265176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i="1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Reviewed diagrams</a:t>
            </a:r>
            <a:endParaRPr lang="en-US" sz="950" dirty="0"/>
          </a:p>
        </p:txBody>
      </p:sp>
      <p:sp>
        <p:nvSpPr>
          <p:cNvPr id="19" name="Milestone 3"/>
          <p:cNvSpPr/>
          <p:nvPr/>
        </p:nvSpPr>
        <p:spPr>
          <a:xfrm>
            <a:off x="3700577" y="1234440"/>
            <a:ext cx="329184" cy="329184"/>
          </a:xfrm>
          <a:prstGeom prst="ellips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3700577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Phase 3"/>
          <p:cNvSpPr/>
          <p:nvPr/>
        </p:nvSpPr>
        <p:spPr>
          <a:xfrm>
            <a:off x="3225089" y="1664208"/>
            <a:ext cx="1280160" cy="1325880"/>
          </a:xfrm>
          <a:prstGeom prst="rect">
            <a:avLst/>
          </a:prstGeom>
          <a:solidFill>
            <a:srgbClr val="EEF0FF"/>
          </a:solidFill>
          <a:ln w="9525">
            <a:solidFill>
              <a:srgbClr val="B8B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3298241" y="171907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298241" y="1984248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Registry, notice hashing, mock API and consumer.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298241" y="265176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i="1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Prototype (planned)</a:t>
            </a:r>
            <a:endParaRPr lang="en-US" sz="950" dirty="0"/>
          </a:p>
        </p:txBody>
      </p:sp>
      <p:sp>
        <p:nvSpPr>
          <p:cNvPr id="25" name="Milestone 4"/>
          <p:cNvSpPr/>
          <p:nvPr/>
        </p:nvSpPr>
        <p:spPr>
          <a:xfrm>
            <a:off x="5113325" y="1234440"/>
            <a:ext cx="329184" cy="329184"/>
          </a:xfrm>
          <a:prstGeom prst="ellips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113325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Phase 4"/>
          <p:cNvSpPr/>
          <p:nvPr/>
        </p:nvSpPr>
        <p:spPr>
          <a:xfrm>
            <a:off x="4637837" y="1664208"/>
            <a:ext cx="1280160" cy="1325880"/>
          </a:xfrm>
          <a:prstGeom prst="rect">
            <a:avLst/>
          </a:prstGeom>
          <a:solidFill>
            <a:srgbClr val="EEF0FF"/>
          </a:solidFill>
          <a:ln w="9525">
            <a:solidFill>
              <a:srgbClr val="B8B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4710989" y="171907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Enforce &amp; audit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710989" y="1984248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Allow/deny rules and audit export.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10989" y="265176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i="1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Enforcement + export</a:t>
            </a:r>
            <a:endParaRPr lang="en-US" sz="950" dirty="0"/>
          </a:p>
        </p:txBody>
      </p:sp>
      <p:sp>
        <p:nvSpPr>
          <p:cNvPr id="31" name="Milestone 5"/>
          <p:cNvSpPr/>
          <p:nvPr/>
        </p:nvSpPr>
        <p:spPr>
          <a:xfrm>
            <a:off x="6526073" y="1234440"/>
            <a:ext cx="329184" cy="329184"/>
          </a:xfrm>
          <a:prstGeom prst="ellips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526073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Phase 5"/>
          <p:cNvSpPr/>
          <p:nvPr/>
        </p:nvSpPr>
        <p:spPr>
          <a:xfrm>
            <a:off x="6050585" y="1664208"/>
            <a:ext cx="1280160" cy="1325880"/>
          </a:xfrm>
          <a:prstGeom prst="rect">
            <a:avLst/>
          </a:prstGeom>
          <a:solidFill>
            <a:srgbClr val="EEF0FF"/>
          </a:solidFill>
          <a:ln w="9525">
            <a:solidFill>
              <a:srgbClr val="B8B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6123737" y="171907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Test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123737" y="1984248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12+ lifecycle and enforcement tests.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123737" y="265176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i="1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Test report</a:t>
            </a:r>
            <a:endParaRPr lang="en-US" sz="950" dirty="0"/>
          </a:p>
        </p:txBody>
      </p:sp>
      <p:sp>
        <p:nvSpPr>
          <p:cNvPr id="37" name="Milestone 6"/>
          <p:cNvSpPr/>
          <p:nvPr/>
        </p:nvSpPr>
        <p:spPr>
          <a:xfrm>
            <a:off x="7938821" y="1234440"/>
            <a:ext cx="329184" cy="329184"/>
          </a:xfrm>
          <a:prstGeom prst="ellipse">
            <a:avLst/>
          </a:prstGeom>
          <a:solidFill>
            <a:srgbClr val="0000DC"/>
          </a:solidFill>
          <a:ln w="12700">
            <a:solidFill>
              <a:srgbClr val="0000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938821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Phase 6"/>
          <p:cNvSpPr/>
          <p:nvPr/>
        </p:nvSpPr>
        <p:spPr>
          <a:xfrm>
            <a:off x="7463333" y="1664208"/>
            <a:ext cx="1280160" cy="1325880"/>
          </a:xfrm>
          <a:prstGeom prst="rect">
            <a:avLst/>
          </a:prstGeom>
          <a:solidFill>
            <a:srgbClr val="EEF0FF"/>
          </a:solidFill>
          <a:ln w="9525">
            <a:solidFill>
              <a:srgbClr val="B8B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7536485" y="171907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Demo &amp; submit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536485" y="1984248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Pseudocode snippet, repository and PDF.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536485" y="265176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i="1" dirty="0">
                <a:solidFill>
                  <a:srgbClr val="05227A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Submission pack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399593" y="3044952"/>
            <a:ext cx="83439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i="1" dirty="0">
                <a:solidFill>
                  <a:srgbClr val="5C5C5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Schedule dates to be confirmed</a:t>
            </a:r>
            <a:endParaRPr lang="en-US" sz="1050" dirty="0"/>
          </a:p>
        </p:txBody>
      </p:sp>
      <p:sp>
        <p:nvSpPr>
          <p:cNvPr id="44" name="Test plan box"/>
          <p:cNvSpPr/>
          <p:nvPr/>
        </p:nvSpPr>
        <p:spPr>
          <a:xfrm>
            <a:off x="399593" y="3310128"/>
            <a:ext cx="49377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 txBox="1"/>
          <p:nvPr/>
        </p:nvSpPr>
        <p:spPr>
          <a:xfrm>
            <a:off x="509321" y="33558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Planned test coverage (12+ cases)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509321" y="3602736"/>
            <a:ext cx="4709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Grant for each purpose • allow after grant • deny without consent • withdrawal • deny after withdrawal • purpose mismatch (P1 ≠ P2) • notice change and re-confirmation • re-grant • unknown user or purpose • audit export check</a:t>
            </a:r>
            <a:endParaRPr lang="en-US" sz="1050" dirty="0"/>
          </a:p>
        </p:txBody>
      </p:sp>
      <p:sp>
        <p:nvSpPr>
          <p:cNvPr id="47" name="Checklist box"/>
          <p:cNvSpPr/>
          <p:nvPr/>
        </p:nvSpPr>
        <p:spPr>
          <a:xfrm>
            <a:off x="5486400" y="3310128"/>
            <a:ext cx="3257093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5596128" y="33558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PS-002 submission checklist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5596128" y="3602736"/>
            <a:ext cx="3063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Private GitHub repository, shared with aiori-hackathon • PDF in the required structure • Prototype demo with pseudocode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399593" y="4434840"/>
            <a:ext cx="8343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i="1" dirty="0">
                <a:solidFill>
                  <a:srgbClr val="5C5C5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Methodology: iterative and test-first; each milestone is checked against the PS-002 requirements and demonstrated on synthetic data only.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nav"/>
          <p:cNvSpPr txBox="1"/>
          <p:nvPr/>
        </p:nvSpPr>
        <p:spPr>
          <a:xfrm>
            <a:off x="0" y="82296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Bibliography</a:t>
            </a:r>
            <a:endParaRPr lang="en-US" sz="950" dirty="0"/>
          </a:p>
        </p:txBody>
      </p:sp>
      <p:sp>
        <p:nvSpPr>
          <p:cNvPr id="3" name="Slide title"/>
          <p:cNvSpPr txBox="1"/>
          <p:nvPr/>
        </p:nvSpPr>
        <p:spPr>
          <a:xfrm>
            <a:off x="399593" y="3657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2500" b="1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Bibliography</a:t>
            </a:r>
            <a:endParaRPr lang="en-US" sz="2300" dirty="0"/>
          </a:p>
        </p:txBody>
      </p:sp>
      <p:sp>
        <p:nvSpPr>
          <p:cNvPr id="4" name="Page number"/>
          <p:cNvSpPr txBox="1"/>
          <p:nvPr/>
        </p:nvSpPr>
        <p:spPr>
          <a:xfrm>
            <a:off x="7589520" y="4846320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 / 11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99593" y="89611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[1]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89611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Ministry of Electronics and Information Technology (MeitY), Government of India. </a:t>
            </a:r>
            <a:r>
              <a:rPr lang="en-US" sz="10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Protection Framework.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meity.gov.in/data-protection-framework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99593" y="12573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[2]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25730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Government of India. </a:t>
            </a:r>
            <a:r>
              <a:rPr lang="en-US" sz="10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Digital Personal Data Protection Act, 2023 (Act No. 22 of 2023).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Text available via the MeitY page above.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99593" y="16184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[3]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161848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MeitY. </a:t>
            </a:r>
            <a:r>
              <a:rPr lang="en-US" sz="10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Digital Personal Data Protection Rules, 2025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(notified November 2025); see the MeitY page above.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99593" y="19796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[4]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1979676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European Parliament and Council. </a:t>
            </a:r>
            <a:r>
              <a:rPr lang="en-US" sz="10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Regulation (EU) 2016/679 (GDPR),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OJ L 119, 4 May 2016. eur-lex.europa.eu/eli/reg/2016/679/oj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99593" y="23408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[5]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340864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NIST. </a:t>
            </a:r>
            <a:r>
              <a:rPr lang="en-US" sz="10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FIPS PUB 180-4: Secure Hash Standard (SHS),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August 2015. csrc.nist.gov/pubs/fips/180-4/upd1/final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99593" y="27020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[6]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270205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J. Richer (Ed.). </a:t>
            </a:r>
            <a:r>
              <a:rPr lang="en-US" sz="10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RFC 7662: OAuth 2.0 Token Introspection.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IETF, October 2015. rfc-editor.org/rfc/rfc7662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99593" y="306324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[7]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063240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T. Lodderstedt, S. Dronia, M. Scurtescu. </a:t>
            </a:r>
            <a:r>
              <a:rPr lang="en-US" sz="10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RFC 7009: OAuth 2.0 Token Revocation.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IETF, August 2013. rfc-editor.org/rfc/rfc7009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9593" y="342442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[8]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342442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A. Rundgren, B. Jordan, S. Erdtman. </a:t>
            </a:r>
            <a:r>
              <a:rPr lang="en-US" sz="10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RFC 8785: JSON Canonicalization Scheme (JCS).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IETF, June 2020. rfc-editor.org/rfc/rfc8785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9593" y="378561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[9]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785616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ISO/IEC. </a:t>
            </a:r>
            <a:r>
              <a:rPr lang="en-US" sz="10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ISO/IEC 29184:2020, Information technology — Online privacy notices and consent.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2020.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99593" y="414680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D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[10]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" y="4146804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Kantara Initiative. </a:t>
            </a:r>
            <a:r>
              <a:rPr lang="en-US" sz="1000" i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 Receipt Specification, v1.1. </a:t>
            </a: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kantarainitiative.org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99593" y="4553712"/>
            <a:ext cx="8343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000" i="1" dirty="0">
                <a:solidFill>
                  <a:srgbClr val="5C5C5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Legal texts are background references; confirm exact provisions before making legal claims.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 you"/>
          <p:cNvSpPr txBox="1"/>
          <p:nvPr/>
        </p:nvSpPr>
        <p:spPr>
          <a:xfrm>
            <a:off x="0" y="1737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Thank You for Your Attention!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0" y="2240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2500" b="1" dirty="0">
                <a:solidFill>
                  <a:srgbClr val="5C5C5C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ConsentGuard  •  Proposed design, not a deployed or legally certified system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RI Hackathon">
  <a:themeElements>
    <a:clrScheme name="AIORI Hackathon">
      <a:dk1>
        <a:srgbClr val="000000"/>
      </a:dk1>
      <a:lt1>
        <a:srgbClr val="FFFFFF"/>
      </a:lt1>
      <a:dk2>
        <a:srgbClr val="05227A"/>
      </a:dk2>
      <a:lt2>
        <a:srgbClr val="EEF0FF"/>
      </a:lt2>
      <a:accent1>
        <a:srgbClr val="0000DC"/>
      </a:accent1>
      <a:accent2>
        <a:srgbClr val="05227A"/>
      </a:accent2>
      <a:accent3>
        <a:srgbClr val="5C5C5C"/>
      </a:accent3>
      <a:accent4>
        <a:srgbClr val="8A8AF0"/>
      </a:accent4>
      <a:accent5>
        <a:srgbClr val="B8B8F0"/>
      </a:accent5>
      <a:accent6>
        <a:srgbClr val="F2F2F2"/>
      </a:accent6>
      <a:hlink>
        <a:srgbClr val="0000DC"/>
      </a:hlink>
      <a:folHlink>
        <a:srgbClr val="05227A"/>
      </a:folHlink>
    </a:clrScheme>
    <a:fontScheme name="AIORI Hackathon">
      <a:majorFont>
        <a:latin typeface="PT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T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1925</Words>
  <Application>Microsoft Office PowerPoint</Application>
  <PresentationFormat>On-screen Show (16:9)</PresentationFormat>
  <Paragraphs>253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AIORI Hackathon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AIORI Hackathon 3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ConsentGuard — PS-002 Purpose-Based Consent Recording &amp; Withdrawal</dc:title>
  <dc:subject>PptxGenJS Presentation</dc:subject>
  <dc:creator>Team IPtracker</dc:creator>
  <cp:lastModifiedBy>Sahil</cp:lastModifiedBy>
  <cp:revision>3</cp:revision>
  <dcterms:created xsi:type="dcterms:W3CDTF">2026-10-14T09:53:23Z</dcterms:created>
  <dcterms:modified xsi:type="dcterms:W3CDTF">2026-10-14T18:17:06Z</dcterms:modified>
</cp:coreProperties>
</file>